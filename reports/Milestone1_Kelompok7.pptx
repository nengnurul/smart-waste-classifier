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989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548640"/>
            <a:ext cx="1554480" cy="1554480"/>
          </a:xfrm>
          <a:prstGeom prst="ellipse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685800"/>
            <a:ext cx="1280160" cy="128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11480"/>
            <a:ext cx="3200400" cy="329184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114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MACHINE LEARNING — INFORMATIKA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1874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D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65760" y="27889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7D9C5"/>
                </a:solidFill>
              </a:rPr>
              <a:t>Visual Waste Classifier — Klasifikasi Sampah Organik &amp; Anorganik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3474720"/>
            <a:ext cx="8412480" cy="36576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3566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MILESTONE 1 — INISIASI &amp; LITERASI  |  Kelompok 7  |  13 Mei 2026  |  Dosen: Dewanto Rosian Adhy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4114800"/>
            <a:ext cx="82296" cy="82296"/>
          </a:xfrm>
          <a:prstGeom prst="ellipse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40416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9C5"/>
                </a:solidFill>
              </a:rPr>
              <a:t>Faris Djihady Dzikrillah / 2310614025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" y="4142232"/>
            <a:ext cx="82296" cy="82296"/>
          </a:xfrm>
          <a:prstGeom prst="ellipse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4297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9C5"/>
                </a:solidFill>
              </a:rPr>
              <a:t>Rizqi Nurjaya / 2310614029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4048" y="4169664"/>
            <a:ext cx="82296" cy="82296"/>
          </a:xfrm>
          <a:prstGeom prst="ellipse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537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9C5"/>
                </a:solidFill>
              </a:rPr>
              <a:t>3. Nurul Hikmah / 2310614010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84048" y="4005072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9C5"/>
                </a:solidFill>
              </a:rPr>
              <a:t>1. 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84048" y="4251960"/>
            <a:ext cx="5486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9C5"/>
                </a:solidFill>
              </a:rPr>
              <a:t>2.  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 flipV="1">
            <a:off x="384048" y="2965076"/>
            <a:ext cx="5486400" cy="1533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LATAR BELAKANG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Smart Waste Classifier?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1691640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CF0E0"/>
                </a:solidFill>
              </a:rPr>
              <a:t>Sampah tidak dipilah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CF0E0"/>
                </a:solidFill>
              </a:rPr>
              <a:t>dengan benar di Indonesia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74320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1:16.5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3383280" y="21031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CF0E0"/>
                </a:solidFill>
              </a:rPr>
              <a:t>Imbalance dataset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CF0E0"/>
                </a:solidFill>
              </a:rPr>
              <a:t>Organik vs Anorganik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743200" cy="1691640"/>
          </a:xfrm>
          <a:prstGeom prst="rect">
            <a:avLst/>
          </a:prstGeom>
          <a:solidFill>
            <a:srgbClr val="0D6E53"/>
          </a:solidFill>
          <a:ln w="12700">
            <a:solidFill>
              <a:srgbClr val="0D6E5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087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6309360" y="21031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CF0E0"/>
                </a:solidFill>
              </a:rPr>
              <a:t>Target akurasi model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CF0E0"/>
                </a:solidFill>
              </a:rPr>
              <a:t>MobileNetV2 Transfer Learning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365760" y="3246120"/>
            <a:ext cx="841248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E53"/>
                </a:solidFill>
              </a:rPr>
              <a:t>Permasalahan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7307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37033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Pemilahan sampah manual tidak akurat dan tidak efisien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7822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" y="40507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Tidak ada sistem otomatis berbasis AI untuk klasifikasi di sumber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25696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22960" y="439826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Imbalance data tinggi (699 organik vs 11.560 anorganik) menjadi tantangan teknis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SOLUSI &amp; TUJUAN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663440" cy="3429000"/>
          </a:xfrm>
          <a:prstGeom prst="rect">
            <a:avLst/>
          </a:prstGeom>
          <a:solidFill>
            <a:srgbClr val="E8F7F1"/>
          </a:solidFill>
          <a:ln w="12700">
            <a:solidFill>
              <a:srgbClr val="E8F7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4475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6E53"/>
                </a:solidFill>
              </a:rPr>
              <a:t>💡  Solusi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502920" cy="502920"/>
          </a:xfrm>
          <a:prstGeom prst="ellipse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5960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8836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Klasifikasi otomatis gambar sampah menggunakan CNN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432304"/>
            <a:ext cx="502920" cy="502920"/>
          </a:xfrm>
          <a:prstGeom prst="ellipse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96312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4140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Transfer Learning dengan MobileNetV2 (pre-trained ImageNet)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2962656"/>
            <a:ext cx="502920" cy="502920"/>
          </a:xfrm>
          <a:prstGeom prst="ellipse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26664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944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Input: foto sampah via kamera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3493008"/>
            <a:ext cx="502920" cy="502920"/>
          </a:xfrm>
          <a:prstGeom prst="ellipse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557016"/>
            <a:ext cx="374904" cy="3749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Output: Organik / Anorganik + confidence score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02920" y="4023360"/>
            <a:ext cx="502920" cy="502920"/>
          </a:xfrm>
          <a:prstGeom prst="ellipse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87368"/>
            <a:ext cx="374904" cy="3749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4005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Deployment ringan — cocok untuk perangkat IoT / edge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212080" y="1325880"/>
            <a:ext cx="3566160" cy="34290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5349240" y="14447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7A"/>
                </a:solidFill>
              </a:rPr>
              <a:t>🎯  Capaian Pembelajaran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349240" y="1965960"/>
            <a:ext cx="777240" cy="292608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349240" y="1965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CPMK-1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217920" y="1938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0E0"/>
                </a:solidFill>
              </a:rPr>
              <a:t>Analisis masalah &amp; solusi ML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349240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Bobot 20%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349240" y="2880360"/>
            <a:ext cx="777240" cy="292608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349240" y="28803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CPMK-2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217920" y="28529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0E0"/>
                </a:solidFill>
              </a:rPr>
              <a:t>Pre-processing &amp; arsitektur model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349240" y="32186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Bobot 30%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349240" y="3794760"/>
            <a:ext cx="777240" cy="292608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349240" y="3794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CPMK-3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217920" y="37673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0E0"/>
                </a:solidFill>
              </a:rPr>
              <a:t>Implementasi &amp; demo purwarupa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349240" y="4133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Bobot 40%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TIM &amp; PEMBAGIAN TUGAS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7 — Meet the Team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2834640" cy="658368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960120"/>
            <a:ext cx="493776" cy="493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6E5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101498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13167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Faris Djihady Dzikrillah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16642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0E0"/>
                </a:solidFill>
              </a:rPr>
              <a:t>2310614025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2029968"/>
            <a:ext cx="1828800" cy="27432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 Engineer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42316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" y="239572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Download &amp; analisis dataset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83464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" y="280720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Reorganisasi folder 10→2 kelas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24612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" y="321868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Split 80/10/10 dataset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097280" y="4462272"/>
            <a:ext cx="1188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097280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E53"/>
                </a:solidFill>
              </a:rPr>
              <a:t>Kontribusi: 32%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46120" y="1298448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246120" y="1298448"/>
            <a:ext cx="28346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416552" y="960120"/>
            <a:ext cx="493776" cy="493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01498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246120" y="13167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Rizqi Nurjaya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3246120" y="16642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0E0"/>
                </a:solidFill>
              </a:rPr>
              <a:t>2310614029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749040" y="2029968"/>
            <a:ext cx="1828800" cy="27432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74904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 &amp; Literature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42316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630168" y="239572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Studi 3 jurnal internasional</a:t>
            </a:r>
            <a:endParaRPr lang="en-US" sz="11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834640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630168" y="280720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Analisis teknologi MobileNetV2</a:t>
            </a:r>
            <a:endParaRPr lang="en-US" sz="11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246120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630168" y="321868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Hitung class weight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069080" y="4462272"/>
            <a:ext cx="1188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4069080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E53"/>
                </a:solidFill>
              </a:rPr>
              <a:t>Kontribusi: 32%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217920" y="1298448"/>
            <a:ext cx="2834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6217920" y="1298448"/>
            <a:ext cx="2834640" cy="658368"/>
          </a:xfrm>
          <a:prstGeom prst="rect">
            <a:avLst/>
          </a:prstGeom>
          <a:solidFill>
            <a:srgbClr val="0D6E53"/>
          </a:solidFill>
          <a:ln w="12700">
            <a:solidFill>
              <a:srgbClr val="0D6E53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7388352" y="960120"/>
            <a:ext cx="493776" cy="49377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6E53"/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1014984"/>
            <a:ext cx="384048" cy="38404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217920" y="13167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Nurul Hikmah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6217920" y="16642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0E0"/>
                </a:solidFill>
              </a:rPr>
              <a:t>2310614010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6720840" y="2029968"/>
            <a:ext cx="1828800" cy="27432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672084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Presentation Designer</a:t>
            </a:r>
            <a:endParaRPr lang="en-US" sz="10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423160"/>
            <a:ext cx="219456" cy="21945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601968" y="239572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Desain slide Milestone 1 &amp; 2</a:t>
            </a:r>
            <a:endParaRPr lang="en-US" sz="11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2834640"/>
            <a:ext cx="219456" cy="21945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601968" y="280720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Dokumentasi laporan progres</a:t>
            </a:r>
            <a:endParaRPr lang="en-US" sz="11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246120"/>
            <a:ext cx="219456" cy="219456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6601968" y="321868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Koordinasi presentasi</a:t>
            </a:r>
            <a:endParaRPr lang="en-US" sz="1100" dirty="0"/>
          </a:p>
        </p:txBody>
      </p:sp>
      <p:sp>
        <p:nvSpPr>
          <p:cNvPr id="51" name="Shape 37"/>
          <p:cNvSpPr/>
          <p:nvPr/>
        </p:nvSpPr>
        <p:spPr>
          <a:xfrm>
            <a:off x="7040880" y="4462272"/>
            <a:ext cx="11887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38"/>
          <p:cNvSpPr/>
          <p:nvPr/>
        </p:nvSpPr>
        <p:spPr>
          <a:xfrm>
            <a:off x="7040880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6E53"/>
                </a:solidFill>
              </a:rPr>
              <a:t>Kontribusi: 36%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STUDI LITERATUR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Jurnal Internasional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475488" cy="1078992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2E"/>
                </a:solidFill>
              </a:rPr>
              <a:t>Waste Classification Using MobileNetV2 Transfer Learning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1819656"/>
            <a:ext cx="1371600" cy="219456"/>
          </a:xfrm>
          <a:prstGeom prst="rect">
            <a:avLst/>
          </a:prstGeom>
          <a:solidFill>
            <a:srgbClr val="E8F7F1"/>
          </a:solidFill>
          <a:ln w="12700">
            <a:solidFill>
              <a:srgbClr val="A7D9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8196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6E53"/>
                </a:solidFill>
              </a:rPr>
              <a:t>PLoS ONE, 2023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08483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Akurasi 88% klasifikasi sampah organik/anorganik dengan MobileNetV2 pre-trained ImageNet. Membuktikan efektivitas transfer learning untuk dataset terbatas.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96896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96896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688336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2E"/>
                </a:solidFill>
              </a:rPr>
              <a:t>Deep Learning for Solid Waste Classification (TrashNet + CNN)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3026664"/>
            <a:ext cx="1371600" cy="219456"/>
          </a:xfrm>
          <a:prstGeom prst="rect">
            <a:avLst/>
          </a:prstGeom>
          <a:solidFill>
            <a:srgbClr val="E8F7F1"/>
          </a:solidFill>
          <a:ln w="12700">
            <a:solidFill>
              <a:srgbClr val="A7D9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26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6E53"/>
                </a:solidFill>
              </a:rPr>
              <a:t>IEEE Xplore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329184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Benchmark CNN dari scratch vs transfer learning pada TrashNet (2.467 gambar). Transfer learning unggul 12% pada dataset kecil.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03904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03904"/>
            <a:ext cx="475488" cy="1078992"/>
          </a:xfrm>
          <a:prstGeom prst="rect">
            <a:avLst/>
          </a:prstGeom>
          <a:solidFill>
            <a:srgbClr val="0D6E53"/>
          </a:solidFill>
          <a:ln w="12700">
            <a:solidFill>
              <a:srgbClr val="0D6E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0390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89534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2E"/>
                </a:solidFill>
              </a:rPr>
              <a:t>Improved CNN for Organic vs Recyclable Waste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4233672"/>
            <a:ext cx="1371600" cy="219456"/>
          </a:xfrm>
          <a:prstGeom prst="rect">
            <a:avLst/>
          </a:prstGeom>
          <a:solidFill>
            <a:srgbClr val="E8F7F1"/>
          </a:solidFill>
          <a:ln w="12700">
            <a:solidFill>
              <a:srgbClr val="A7D9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336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6E53"/>
                </a:solidFill>
              </a:rPr>
              <a:t>Springer Multimedia Tools, 2024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4498848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Teknik augmentasi data (flip, rotation, zoom, brightness) meningkatkan akurasi 7% pada dataset imbalance. Class weighting efektif untuk rasio 1:10+.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Kerja 5 Minggu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D9C5"/>
                </a:solidFill>
              </a:rPr>
              <a:t>Timeline Proyek — Visual Waste Classifier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600200" cy="50292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74520" y="1618488"/>
            <a:ext cx="15544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938528"/>
            <a:ext cx="1600200" cy="2606040"/>
          </a:xfrm>
          <a:prstGeom prst="rect">
            <a:avLst/>
          </a:prstGeom>
          <a:solidFill>
            <a:srgbClr val="0A2B20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7A"/>
                </a:solidFill>
              </a:rPr>
              <a:t>Inisiasi &amp; Literasi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B9A0"/>
                </a:solidFill>
              </a:rPr>
              <a:t>Pembentukan tim, pemilihan topik, dataset, studi literatur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4206240"/>
            <a:ext cx="731520" cy="237744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2062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 DONE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29968" y="1417320"/>
            <a:ext cx="1600200" cy="50292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30168" y="1618488"/>
            <a:ext cx="15544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1938528"/>
            <a:ext cx="1600200" cy="2606040"/>
          </a:xfrm>
          <a:prstGeom prst="rect">
            <a:avLst/>
          </a:prstGeom>
          <a:solidFill>
            <a:srgbClr val="0A2B20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7A"/>
                </a:solidFill>
              </a:rPr>
              <a:t>Akuisisi &amp; Persiapan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487168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B9A0"/>
                </a:solidFill>
              </a:rPr>
              <a:t>Setup Colab, EDA, reorganisasi dataset, pre-processing pipeline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4206240"/>
            <a:ext cx="731520" cy="237744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42062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 DONE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85616" y="1417320"/>
            <a:ext cx="1600200" cy="502920"/>
          </a:xfrm>
          <a:prstGeom prst="rect">
            <a:avLst/>
          </a:prstGeom>
          <a:solidFill>
            <a:srgbClr val="1DB97A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385816" y="1618488"/>
            <a:ext cx="15544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85616" y="1938528"/>
            <a:ext cx="1600200" cy="2606040"/>
          </a:xfrm>
          <a:prstGeom prst="rect">
            <a:avLst/>
          </a:prstGeom>
          <a:solidFill>
            <a:srgbClr val="0A2B20"/>
          </a:solidFill>
          <a:ln w="12700">
            <a:solidFill>
              <a:srgbClr val="1DB9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7A"/>
                </a:solidFill>
              </a:rPr>
              <a:t>Desain Sistem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58768" y="2487168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B9A0"/>
                </a:solidFill>
              </a:rPr>
              <a:t>Arsitektur MobileNetV2, augmentasi, split 80/10/10, class weight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24528" y="42062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41264" y="1417320"/>
            <a:ext cx="1600200" cy="502920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141464" y="1618488"/>
            <a:ext cx="155448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41264" y="1938528"/>
            <a:ext cx="1600200" cy="2606040"/>
          </a:xfrm>
          <a:prstGeom prst="rect">
            <a:avLst/>
          </a:prstGeom>
          <a:solidFill>
            <a:srgbClr val="0E2D24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D9C5"/>
                </a:solidFill>
              </a:rPr>
              <a:t>Training &amp; Evaluasi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14416" y="2487168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B9A0"/>
                </a:solidFill>
              </a:rPr>
              <a:t>Fase 1 feature extraction, Fase 2 fine-tuning, confusion matrix, AUC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96912" y="1417320"/>
            <a:ext cx="1600200" cy="502920"/>
          </a:xfrm>
          <a:prstGeom prst="rect">
            <a:avLst/>
          </a:prstGeom>
          <a:solidFill>
            <a:srgbClr val="1D6E53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96912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M5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296912" y="1938528"/>
            <a:ext cx="1600200" cy="2606040"/>
          </a:xfrm>
          <a:prstGeom prst="rect">
            <a:avLst/>
          </a:prstGeom>
          <a:solidFill>
            <a:srgbClr val="0E2D24"/>
          </a:solidFill>
          <a:ln w="12700">
            <a:solidFill>
              <a:srgbClr val="1D6E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70064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D9C5"/>
                </a:solidFill>
              </a:rPr>
              <a:t>Deployment &amp; Demo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70064" y="2487168"/>
            <a:ext cx="1463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B9A0"/>
                </a:solidFill>
              </a:rPr>
              <a:t>Aplikasi Streamlit, demo live, laporan akhir, GitHub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Saat ini di posisi Minggu 3–4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473</Words>
  <Application>Microsoft Office PowerPoint</Application>
  <PresentationFormat>On-screen Show (16:9)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1 - Smart Waste Classifier</dc:title>
  <dc:subject>PptxGenJS Presentation</dc:subject>
  <dc:creator>PptxGenJS</dc:creator>
  <cp:lastModifiedBy>Ahmad fadillah</cp:lastModifiedBy>
  <cp:revision>2</cp:revision>
  <dcterms:created xsi:type="dcterms:W3CDTF">2026-05-13T11:51:02Z</dcterms:created>
  <dcterms:modified xsi:type="dcterms:W3CDTF">2026-05-13T11:55:32Z</dcterms:modified>
</cp:coreProperties>
</file>